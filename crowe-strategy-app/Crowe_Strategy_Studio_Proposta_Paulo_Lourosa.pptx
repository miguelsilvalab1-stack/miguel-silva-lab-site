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E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77272" y="0"/>
            <a:ext cx="2011680" cy="164592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Crowe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Crowe Strategy Studio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66928" y="329184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estratégico preliminar gerado por IA —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máquina de originar reuniões qualificadas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66928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interna · Paulo Lourosa · 10 de junho de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4983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Silva — Head of AI Crowe Consulting Unit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/ Tax / Advisory / Outsourcing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25512" y="63550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A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decisions. Lasting value.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11E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SECÇÃO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oportunidade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1274552" cy="0"/>
          </a:xfrm>
          <a:prstGeom prst="line">
            <a:avLst/>
          </a:prstGeom>
          <a:noFill/>
          <a:ln w="12700">
            <a:solidFill>
              <a:srgbClr val="F5A8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73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Crowe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079992" y="647395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Crowe Advisory 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A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611880" cy="384048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828800"/>
            <a:ext cx="64008" cy="384048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057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85800" y="26060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Originar é caro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3200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reunião qualificada com uma PME custa horas de prospeção, eventos e seguimento — e chega "fria", sem contexto sobre a empresa.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79392" y="1828800"/>
            <a:ext cx="3611880" cy="384048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279392" y="1828800"/>
            <a:ext cx="64008" cy="384048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15" name="Text 13"/>
          <p:cNvSpPr/>
          <p:nvPr/>
        </p:nvSpPr>
        <p:spPr>
          <a:xfrm>
            <a:off x="4507992" y="2057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507992" y="26060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PME querem rapidez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07992" y="3383280"/>
            <a:ext cx="3200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Gestores de PME raramente compram "consultoria"; compram respostas ao seu problema concreto. Um diagnóstico imediato abre essa porta.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01584" y="1828800"/>
            <a:ext cx="3611880" cy="384048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19" name="Shape 17"/>
          <p:cNvSpPr/>
          <p:nvPr/>
        </p:nvSpPr>
        <p:spPr>
          <a:xfrm>
            <a:off x="8101584" y="1828800"/>
            <a:ext cx="64008" cy="384048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20" name="Text 18"/>
          <p:cNvSpPr/>
          <p:nvPr/>
        </p:nvSpPr>
        <p:spPr>
          <a:xfrm>
            <a:off x="8330184" y="2057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330184" y="26060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mudou o custo de servir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30184" y="3383280"/>
            <a:ext cx="3200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 é possível entregar um diagnóstico setorial fundamentado, com fontes reais, em 3 minutos e por cêntimos — antes da primeira reunião.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11E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SECÇÃO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que é o Crowe Strategy Studio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1274552" cy="0"/>
          </a:xfrm>
          <a:prstGeom prst="line">
            <a:avLst/>
          </a:prstGeom>
          <a:noFill/>
          <a:ln w="12700">
            <a:solidFill>
              <a:srgbClr val="F5A8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73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Crowe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079992" y="647395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Crowe Advisory 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A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8412480" cy="93268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691640"/>
            <a:ext cx="64008" cy="932688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0136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Questionário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0" y="1764792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perguntas sobre a empresa, o setor e a prioridade estratégica. Demora 3 minutos, no browser, sem registo.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770632"/>
            <a:ext cx="8412480" cy="93268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770632"/>
            <a:ext cx="64008" cy="932688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8036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Motor de IA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43200" y="2843784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multi-modelo (OpenAI + Anthropic) com pesquisa web em fontes portuguesas — INE, Pordata, Banco de Portugal — e validação aritmética automática.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49624"/>
            <a:ext cx="8412480" cy="93268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849624"/>
            <a:ext cx="64008" cy="932688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959352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Diagnóstico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0" y="3922776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de 7 secções: sumário, análise setorial com fontes, posicionamento, finanças, operações &amp; IA, go-to-market e roteiro de 90 dias. PDF com marca Crowe.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928616"/>
            <a:ext cx="8412480" cy="93268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4928616"/>
            <a:ext cx="64008" cy="932688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5038344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Lead qualificado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743200" y="5001768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aceder, o gestor identifica-se: nome, cargo, empresa, contacto. A equipa Crowe recebe tudo por email, com o diagnóstico anexado.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144000" y="1691640"/>
            <a:ext cx="2587752" cy="416052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25" name="Text 23"/>
          <p:cNvSpPr/>
          <p:nvPr/>
        </p:nvSpPr>
        <p:spPr>
          <a:xfrm>
            <a:off x="9281160" y="1920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11E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 AO VIVO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281160" y="237744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crowe-strategy-studio.vercel.app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81160" y="329184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privado de validação — não indexado, sem marca pública até aprovação.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11E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SECÇÃO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Valor para o cliente, valor para a Crowe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1274552" cy="0"/>
          </a:xfrm>
          <a:prstGeom prst="line">
            <a:avLst/>
          </a:prstGeom>
          <a:noFill/>
          <a:ln w="12700">
            <a:solidFill>
              <a:srgbClr val="F5A8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73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Crowe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079992" y="647395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Crowe Advisory 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A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577840" cy="411480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737360"/>
            <a:ext cx="64008" cy="411480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gestor recebe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" y="2377440"/>
            <a:ext cx="51206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setorial com fontes verificáveis (INE, Pordata, associações)
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Cenários financeiros prudentes com análise de sensibilidade
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concretas de eficiência e IA aplicada ao seu setor
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 de 90 dias com quick wins
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em 3 minutos, sem custo e com confidencialidade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1737360"/>
            <a:ext cx="5486400" cy="411480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263640" y="1737360"/>
            <a:ext cx="64008" cy="411480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Crowe recebe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92240" y="2377440"/>
            <a:ext cx="50292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empresarial completo: nome, cargo, empresa, email, telefone
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consultor chega à 1.ª reunião com o diagnóstico já feito
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Cross-sell natural: o diagnóstico aponta para Advisory, Tax, Audit e Outsourcing
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pública das capacidades da AI Consulting Unit
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Diferenciação: nenhuma concorrente em Portugal tem isto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1E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SECÇÃO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Economics: risco zero, custo marginal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1274552" cy="0"/>
          </a:xfrm>
          <a:prstGeom prst="line">
            <a:avLst/>
          </a:prstGeom>
          <a:noFill/>
          <a:ln w="12700">
            <a:solidFill>
              <a:srgbClr val="F5A8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73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Crowe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079992" y="647395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Crowe Advisory 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A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743200" cy="201168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828800"/>
            <a:ext cx="64008" cy="201168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05740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11E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€0,20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28803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IA por diagnóstico completo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29000" y="1828800"/>
            <a:ext cx="2743200" cy="201168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828800"/>
            <a:ext cx="64008" cy="201168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205740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11E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~€0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611880" y="28803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infraestrutura mensal (serverless, escala a zero)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1828800"/>
            <a:ext cx="2743200" cy="201168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0" y="1828800"/>
            <a:ext cx="64008" cy="201168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0" y="205740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11E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min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583680" y="28803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primeiro clique ao diagnóstico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372600" y="1828800"/>
            <a:ext cx="2743200" cy="201168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21" name="Shape 19"/>
          <p:cNvSpPr/>
          <p:nvPr/>
        </p:nvSpPr>
        <p:spPr>
          <a:xfrm>
            <a:off x="9372600" y="1828800"/>
            <a:ext cx="64008" cy="201168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22" name="Text 20"/>
          <p:cNvSpPr/>
          <p:nvPr/>
        </p:nvSpPr>
        <p:spPr>
          <a:xfrm>
            <a:off x="9555480" y="205740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11E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555480" y="28803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construído e testado — pronto a demonstrar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206240"/>
            <a:ext cx="11274552" cy="164592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4206240"/>
            <a:ext cx="64008" cy="164592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43484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simples: se num mês o Studio originar uma única reunião que se converta num projeto, paga-se a si próprio milhares de vezes. O risco de não testar é maior do que o risco de testar.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1E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SECÇÃO 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Proposta: piloto de 4 semanas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1274552" cy="0"/>
          </a:xfrm>
          <a:prstGeom prst="line">
            <a:avLst/>
          </a:prstGeom>
          <a:noFill/>
          <a:ln w="12700">
            <a:solidFill>
              <a:srgbClr val="F5A8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73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A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Crowe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079992" y="647395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Crowe Advisory 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A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7863840" cy="100584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737360"/>
            <a:ext cx="64008" cy="100584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47088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377440" y="1810512"/>
            <a:ext cx="5760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interna: marca, mensagem e enquadramento legal/RGPD com o departamento competente. Ajustes ao questionário com 2-3 consultores.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7863840" cy="100584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880360"/>
            <a:ext cx="64008" cy="100584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990088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Semanas 2–3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377440" y="2953512"/>
            <a:ext cx="5760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controlado: partilha com 10–15 clientes e contactos de confiança + uso interno pelos consultores na preparação de reuniões.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7863840" cy="100584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4023360"/>
            <a:ext cx="64008" cy="100584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4133088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377440" y="4096512"/>
            <a:ext cx="5760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6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 com dados: diagnósticos gerados, leads captados, reuniões marcadas, feedback qualitativo. Decisão go / no-go.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595360" y="1737360"/>
            <a:ext cx="3136392" cy="329184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0" y="1920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11E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que pedimos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778240" y="2377440"/>
            <a:ext cx="28346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Patrocínio do piloto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Validação de marca e legal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011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30 minutos para a demo ao vivo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5349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A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do piloto: n.º de diagnósticos · n.º de leads · reuniões marcadas · feedback dos consultores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1E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8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315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Obrigado</a:t>
            </a:r>
            <a:endParaRPr lang="en-US" sz="4400" dirty="0"/>
          </a:p>
        </p:txBody>
      </p:sp>
      <p:pic>
        <p:nvPicPr>
          <p:cNvPr id="4" name="Image 0" descr="miguel-silva-pho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377440"/>
            <a:ext cx="1554480" cy="1554480"/>
          </a:xfrm>
          <a:prstGeom prst="ellipse">
            <a:avLst/>
          </a:prstGeom>
        </p:spPr>
      </p:pic>
      <p:sp>
        <p:nvSpPr>
          <p:cNvPr id="5" name="Text 2"/>
          <p:cNvSpPr/>
          <p:nvPr/>
        </p:nvSpPr>
        <p:spPr>
          <a:xfrm>
            <a:off x="2560320" y="24688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Miguel Silva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2560320" y="2880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A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AI Crowe Consulting Unit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560320" y="3337560"/>
            <a:ext cx="3108960" cy="0"/>
          </a:xfrm>
          <a:prstGeom prst="line">
            <a:avLst/>
          </a:prstGeom>
          <a:noFill/>
          <a:ln w="19050">
            <a:solidFill>
              <a:srgbClr val="F5A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560320" y="34747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+351 914 912 126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560320" y="3794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miguel.silva@crowe.pt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560320" y="4114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crowe-strategy-studio.vercel.app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57607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Crowe Portugal is a member of Crowe Global, a Swiss verein. Each member firm of Crowe Global is a separate and independent legal entity. Crowe Portugal and its affiliates are not responsible or liable for any acts or omissions of Crowe Global or any other member of Crowe Global.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C6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Crowe Portugal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Crowe Advisory 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Crowe Strategy Studio — Proposta interna</dc:title>
  <dc:subject>PptxGenJS Presentation</dc:subject>
  <dc:creator>Miguel Silva</dc:creator>
  <cp:lastModifiedBy>Miguel Silva</cp:lastModifiedBy>
  <cp:revision>1</cp:revision>
  <dcterms:created xsi:type="dcterms:W3CDTF">2026-06-10T19:21:00Z</dcterms:created>
  <dcterms:modified xsi:type="dcterms:W3CDTF">2026-06-10T19:21:00Z</dcterms:modified>
</cp:coreProperties>
</file>